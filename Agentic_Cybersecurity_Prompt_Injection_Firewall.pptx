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69848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/>
            </a:pPr>
            <a:r>
              <a:t>Agentic Cybersecurity</a:t>
            </a:r>
          </a:p>
          <a:p>
            <a:pPr algn="ctr">
              <a:defRPr sz="3400" b="1"/>
            </a:pPr>
            <a:r>
              <a:t>Prompt Injection Firewall</a:t>
            </a:r>
          </a:p>
          <a:p>
            <a:pPr algn="ctr">
              <a:defRPr sz="2000"/>
            </a:pPr>
            <a:r>
              <a:t>ET AI Hackathon – Agentic Edition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1. Team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AI / Cybersecurity engineering team focused on securing agentic AI.</a:t>
            </a:r>
          </a:p>
          <a:p>
            <a:pPr>
              <a:spcAft>
                <a:spcPts val="1200"/>
              </a:spcAft>
              <a:defRPr sz="1800"/>
            </a:pPr>
            <a:r>
              <a:t>Objective: protect AI agents from malicious instructions hidden in user and external content.</a:t>
            </a:r>
          </a:p>
          <a:p>
            <a:pPr>
              <a:spcAft>
                <a:spcPts val="1200"/>
              </a:spcAft>
              <a:defRPr sz="1800"/>
            </a:pPr>
            <a:r>
              <a:t>Approach: deterministic security controls + ML + semantic detection + LLM-assisted analysis.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2. 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Agents consume untrusted prompts, webpages, PDFs, DOCX files, images and API responses.</a:t>
            </a:r>
          </a:p>
          <a:p>
            <a:pPr>
              <a:spcAft>
                <a:spcPts val="1200"/>
              </a:spcAft>
              <a:defRPr sz="1800"/>
            </a:pPr>
            <a:r>
              <a:t>Attackers can embed instructions that attempt to override behavior, extract secrets or abuse tools.</a:t>
            </a:r>
          </a:p>
          <a:p>
            <a:pPr>
              <a:spcAft>
                <a:spcPts val="1200"/>
              </a:spcAft>
              <a:defRPr sz="1800"/>
            </a:pPr>
            <a:r>
              <a:t>Threats include instruction override, role manipulation, credential theft, tool abuse, context poisoning and multi-step jailbreaks.</a:t>
            </a:r>
          </a:p>
          <a:p>
            <a:pPr>
              <a:spcAft>
                <a:spcPts val="1200"/>
              </a:spcAft>
              <a:defRPr sz="1800"/>
            </a:pPr>
            <a:r>
              <a:t>Security must distinguish DATA from INSTRUCTIONS before agent execution.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3. Proposed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Firewall sits between untrusted content and the AI agent.</a:t>
            </a:r>
          </a:p>
          <a:p>
            <a:pPr>
              <a:spcAft>
                <a:spcPts val="1200"/>
              </a:spcAft>
              <a:defRPr sz="1800"/>
            </a:pPr>
            <a:r>
              <a:t>Normalize, parse and preserve provenance/trust metadata.</a:t>
            </a:r>
          </a:p>
          <a:p>
            <a:pPr>
              <a:spcAft>
                <a:spcPts val="1200"/>
              </a:spcAft>
              <a:defRPr sz="1800"/>
            </a:pPr>
            <a:r>
              <a:t>Run multiple detectors and combine their signals.</a:t>
            </a:r>
          </a:p>
          <a:p>
            <a:pPr>
              <a:spcAft>
                <a:spcPts val="1200"/>
              </a:spcAft>
              <a:defRPr sz="1800"/>
            </a:pPr>
            <a:r>
              <a:t>Policy engine produces PASS / SANITIZE / BLOCK.</a:t>
            </a:r>
          </a:p>
          <a:p>
            <a:pPr>
              <a:spcAft>
                <a:spcPts val="1200"/>
              </a:spcAft>
              <a:defRPr sz="1800"/>
            </a:pPr>
            <a:r>
              <a:t>Tool, memory and output guards enforce security after detection.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4. Detailed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INPUT → Parser/Normalizer → Provenance &amp; Trust Boundary → Segmentation</a:t>
            </a:r>
          </a:p>
          <a:p>
            <a:pPr>
              <a:spcAft>
                <a:spcPts val="1200"/>
              </a:spcAft>
              <a:defRPr sz="1800"/>
            </a:pPr>
            <a:r>
              <a:t>FAST DETECTION → Rules + TF-IDF/Logistic Regression + Tool + Context + Jailbreak + Indirect detectors</a:t>
            </a:r>
          </a:p>
          <a:p>
            <a:pPr>
              <a:spcAft>
                <a:spcPts val="1200"/>
              </a:spcAft>
              <a:defRPr sz="1800"/>
            </a:pPr>
            <a:r>
              <a:t>ENCODED PATH → Base64/Hex decode → re-analysis</a:t>
            </a:r>
          </a:p>
          <a:p>
            <a:pPr>
              <a:spcAft>
                <a:spcPts val="1200"/>
              </a:spcAft>
              <a:defRPr sz="1800"/>
            </a:pPr>
            <a:r>
              <a:t>SEMANTIC PATH → SentenceTransformer similarity</a:t>
            </a:r>
          </a:p>
          <a:p>
            <a:pPr>
              <a:spcAft>
                <a:spcPts val="1200"/>
              </a:spcAft>
              <a:defRPr sz="1800"/>
            </a:pPr>
            <a:r>
              <a:t>AMBIGUOUS CASES → Cohere security analysis (advisory only)</a:t>
            </a:r>
          </a:p>
          <a:p>
            <a:pPr>
              <a:spcAft>
                <a:spcPts val="1200"/>
              </a:spcAft>
              <a:defRPr sz="1800"/>
            </a:pPr>
            <a:r>
              <a:t>RISK/POLICY ENGINE → PASS / SANITIZE / BLOCK</a:t>
            </a:r>
          </a:p>
          <a:p>
            <a:pPr>
              <a:spcAft>
                <a:spcPts val="1200"/>
              </a:spcAft>
              <a:defRPr sz="1800"/>
            </a:pPr>
            <a:r>
              <a:t>POST-DECISION → Tool Gateway + Action Guard + Memory Guard + Output Scanner</a:t>
            </a:r>
          </a:p>
          <a:p>
            <a:pPr>
              <a:spcAft>
                <a:spcPts val="1200"/>
              </a:spcAft>
              <a:defRPr sz="1800"/>
            </a:pPr>
            <a:r>
              <a:t>DECISION TRACE → evidence, scores, provenance and final decision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5. AI Models &amp; Technologies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TF-IDF + Logistic Regression: fast baseline classifier.</a:t>
            </a:r>
          </a:p>
          <a:p>
            <a:pPr>
              <a:spcAft>
                <a:spcPts val="1200"/>
              </a:spcAft>
              <a:defRPr sz="1800"/>
            </a:pPr>
            <a:r>
              <a:t>SentenceTransformer all-MiniLM-L6-v2: semantic similarity against attack prototypes.</a:t>
            </a:r>
          </a:p>
          <a:p>
            <a:pPr>
              <a:spcAft>
                <a:spcPts val="1200"/>
              </a:spcAft>
              <a:defRPr sz="1800"/>
            </a:pPr>
            <a:r>
              <a:t>Cohere: advisory LLM analysis for selected ambiguous cases.</a:t>
            </a:r>
          </a:p>
          <a:p>
            <a:pPr>
              <a:spcAft>
                <a:spcPts val="1200"/>
              </a:spcAft>
              <a:defRPr sz="1800"/>
            </a:pPr>
            <a:r>
              <a:t>Python, scikit-learn, SentenceTransformers, Cohere SDK, Streamlit.</a:t>
            </a:r>
          </a:p>
          <a:p>
            <a:pPr>
              <a:spcAft>
                <a:spcPts val="1200"/>
              </a:spcAft>
              <a:defRPr sz="1800"/>
            </a:pPr>
            <a:r>
              <a:t>BeautifulSoup, pypdf, python-docx and Tesseract OCR for content extraction.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6. Security Decision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Low risk → PASS.</a:t>
            </a:r>
          </a:p>
          <a:p>
            <a:pPr>
              <a:spcAft>
                <a:spcPts val="1200"/>
              </a:spcAft>
              <a:defRPr sz="1800"/>
            </a:pPr>
            <a:r>
              <a:t>Suspicious medium risk → SANITIZE and isolate suspicious content.</a:t>
            </a:r>
          </a:p>
          <a:p>
            <a:pPr>
              <a:spcAft>
                <a:spcPts val="1200"/>
              </a:spcAft>
              <a:defRPr sz="1800"/>
            </a:pPr>
            <a:r>
              <a:t>Credential theft, secret extraction and tool abuse receive high-risk policy treatment → BLOCK.</a:t>
            </a:r>
          </a:p>
          <a:p>
            <a:pPr>
              <a:spcAft>
                <a:spcPts val="1200"/>
              </a:spcAft>
              <a:defRPr sz="1800"/>
            </a:pPr>
            <a:r>
              <a:t>Decoded malicious content receives elevated risk.</a:t>
            </a:r>
          </a:p>
          <a:p>
            <a:pPr>
              <a:spcAft>
                <a:spcPts val="1200"/>
              </a:spcAft>
              <a:defRPr sz="1800"/>
            </a:pPr>
            <a:r>
              <a:t>LLM output never directly controls the final security decision.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7. Product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Benign request → PASS.</a:t>
            </a:r>
          </a:p>
          <a:p>
            <a:pPr>
              <a:spcAft>
                <a:spcPts val="1200"/>
              </a:spcAft>
              <a:defRPr sz="1800"/>
            </a:pPr>
            <a:r>
              <a:t>Direct instruction override → detection and policy enforcement.</a:t>
            </a:r>
          </a:p>
          <a:p>
            <a:pPr>
              <a:spcAft>
                <a:spcPts val="1200"/>
              </a:spcAft>
              <a:defRPr sz="1800"/>
            </a:pPr>
            <a:r>
              <a:t>Encoded attack → decode → detect → elevated risk.</a:t>
            </a:r>
          </a:p>
          <a:p>
            <a:pPr>
              <a:spcAft>
                <a:spcPts val="1200"/>
              </a:spcAft>
              <a:defRPr sz="1800"/>
            </a:pPr>
            <a:r>
              <a:t>Malicious content in HTML/PDF/DOCX/image → extract → analyze.</a:t>
            </a:r>
          </a:p>
          <a:p>
            <a:pPr>
              <a:spcAft>
                <a:spcPts val="1200"/>
              </a:spcAft>
              <a:defRPr sz="1800"/>
            </a:pPr>
            <a:r>
              <a:t>Ambiguous case → Cohere escalation → advisory result in decision trace.</a:t>
            </a:r>
          </a:p>
          <a:p>
            <a:pPr>
              <a:spcAft>
                <a:spcPts val="1200"/>
              </a:spcAft>
              <a:defRPr sz="1800"/>
            </a:pPr>
            <a:r>
              <a:t>High-risk tool request → Tool Gateway / Action Guard prevents unsafe execution.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8. Business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Reduces the attack surface of AI agents.</a:t>
            </a:r>
          </a:p>
          <a:p>
            <a:pPr>
              <a:spcAft>
                <a:spcPts val="1200"/>
              </a:spcAft>
              <a:defRPr sz="1800"/>
            </a:pPr>
            <a:r>
              <a:t>Reusable security layer for copilots, APIs and autonomous workflows.</a:t>
            </a:r>
          </a:p>
          <a:p>
            <a:pPr>
              <a:spcAft>
                <a:spcPts val="1200"/>
              </a:spcAft>
              <a:defRPr sz="1800"/>
            </a:pPr>
            <a:r>
              <a:t>Protects multiple untrusted content sources, not only chat prompts.</a:t>
            </a:r>
          </a:p>
          <a:p>
            <a:pPr>
              <a:spcAft>
                <a:spcPts val="1200"/>
              </a:spcAft>
              <a:defRPr sz="1800"/>
            </a:pPr>
            <a:r>
              <a:t>Auditable decision traces support security operations.</a:t>
            </a:r>
          </a:p>
          <a:p>
            <a:pPr>
              <a:spcAft>
                <a:spcPts val="1200"/>
              </a:spcAft>
              <a:defRPr sz="1800"/>
            </a:pPr>
            <a:r>
              <a:t>Potential enterprise product: AI security gateway / agent firewall.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9. Scalability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Stateless detection components can scale horizontally behind an API gateway.</a:t>
            </a:r>
          </a:p>
          <a:p>
            <a:pPr>
              <a:spcAft>
                <a:spcPts val="1200"/>
              </a:spcAft>
              <a:defRPr sz="1800"/>
            </a:pPr>
            <a:r>
              <a:t>Separate parsing, detection, policy and action-guard layers can scale independently.</a:t>
            </a:r>
          </a:p>
          <a:p>
            <a:pPr>
              <a:spcAft>
                <a:spcPts val="1200"/>
              </a:spcAft>
              <a:defRPr sz="1800"/>
            </a:pPr>
            <a:r>
              <a:t>Model/embedding caching reduces repeated inference cost.</a:t>
            </a:r>
          </a:p>
          <a:p>
            <a:pPr>
              <a:spcAft>
                <a:spcPts val="1200"/>
              </a:spcAft>
              <a:defRPr sz="1800"/>
            </a:pPr>
            <a:r>
              <a:t>Central telemetry enables attack trend, false-positive and drift monitoring.</a:t>
            </a:r>
          </a:p>
          <a:p>
            <a:pPr>
              <a:spcAft>
                <a:spcPts val="1200"/>
              </a:spcAft>
              <a:defRPr sz="1800"/>
            </a:pPr>
            <a:r>
              <a:t>Deployment path: Docker → registry → staging → smoke tests → production.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10. Results &amp; Future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Seed benchmark: 43 samples — Precision 1.00, Recall 1.00, F1 1.00.</a:t>
            </a:r>
          </a:p>
          <a:p>
            <a:pPr>
              <a:spcAft>
                <a:spcPts val="1200"/>
              </a:spcAft>
              <a:defRPr sz="1800"/>
            </a:pPr>
            <a:r>
              <a:t>Unseen benchmark: 90 samples — Precision 0.976, Recall 1.00, F1 0.988.</a:t>
            </a:r>
          </a:p>
          <a:p>
            <a:pPr>
              <a:spcAft>
                <a:spcPts val="1200"/>
              </a:spcAft>
              <a:defRPr sz="1800"/>
            </a:pPr>
            <a:r>
              <a:t>Benchmarks are curated engineering tests, not production-scale validation.</a:t>
            </a:r>
          </a:p>
          <a:p>
            <a:pPr>
              <a:spcAft>
                <a:spcPts val="1200"/>
              </a:spcAft>
              <a:defRPr sz="1800"/>
            </a:pPr>
            <a:r>
              <a:t>Next: fine-tuned DeBERTa/DistilBERT.</a:t>
            </a:r>
          </a:p>
          <a:p>
            <a:pPr>
              <a:spcAft>
                <a:spcPts val="1200"/>
              </a:spcAft>
              <a:defRPr sz="1800"/>
            </a:pPr>
            <a:r>
              <a:t>Then: FAISS/Chroma semantic attack memory.</a:t>
            </a:r>
          </a:p>
          <a:p>
            <a:pPr>
              <a:spcAft>
                <a:spcPts val="1200"/>
              </a:spcAft>
              <a:defRPr sz="1800"/>
            </a:pPr>
            <a:r>
              <a:t>Then: human-validated feedback loop and controlled retraining.</a:t>
            </a:r>
          </a:p>
          <a:p>
            <a:pPr>
              <a:spcAft>
                <a:spcPts val="1200"/>
              </a:spcAft>
              <a:defRPr sz="1800"/>
            </a:pPr>
            <a:r>
              <a:t>Enterprise: model registry, drift monitoring, SIEM/SOC and policy management.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